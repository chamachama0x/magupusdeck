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0"/>
            <a:ext cx="4114800" cy="4114800"/>
          </a:xfrm>
          <a:prstGeom prst="ellipse">
            <a:avLst/>
          </a:prstGeom>
          <a:solidFill>
            <a:srgbClr val="9775F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42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Engine for Enterprise Brands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your brand the definitive answer across every AI engine — ChatGPT, Gemini, Perplexity, DeepSeek, Claude, and beyond.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+ SEO content marketing to efficiently acquire global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1,000+ ENTERPRISE BRANDS WORLDWIDE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hello@geo42.ai  |  geo42.ai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is Linear. GEO is Binary.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demand hasn't changed — but the entry points are shifting fast.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2926080"/>
          </a:xfrm>
          <a:prstGeom prst="roundRect">
            <a:avLst>
              <a:gd name="adj" fmla="val 468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Google SEO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drops gradually with ranking, but the long tail still survives. Even pages scoring 30-60 points capture some traffic. Sites climb from position 10 to 1, and multiple results coexist on page one.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distribution — progressive gains.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2926080"/>
          </a:xfrm>
          <a:prstGeom prst="roundRect">
            <a:avLst>
              <a:gd name="adj" fmla="val 468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Engine (GEO)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single answer window and cites only 5-10 high-authority sources. You're either the cited answer or you're invisible. There is no page two. There is no long tail.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Cliff-edge — binary outcome.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983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86000" y="5029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1,631B vs 55B visits/mo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493776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983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5029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growth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493776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983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966960" y="5029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 searches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Invisible to #1 — Robot Vacuum Case Study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robot vacuum brand was completely absent from AI recommendations. When users asked Gemini "Which robot vacuum has the best smart navigation?" — competitors owned every answer. Brand visibility: 0%.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GEO optimization targeting high-value queries around smart navigation and suction power, the brand became the top recommendation across Gemini, ChatGPT, Perplexity, and DeepSeek.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394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Mentions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(Trust)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Traffic from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Platforms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(Gemini, ChatGPT, Perplexity, DeepSeek)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Is Reshaping Discovery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search engines combined: 1,631.5 billion visits/mo (Google alone at 60.19%).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chatbots combined: 55.2 billion visits/mo — growing at 1,000×.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50292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Visits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228600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SEO+SEM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 Billion  (growth slowing)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GEO Market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$10+ Trillion  (exponential)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prioritize high-quality content now capture early traffic dividends and lock in long-term brand equity.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Walls Enterprises Hit Going Global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built well but no traffic. Doesn't fit Google's rules. AI crawlers skip you entirely.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46304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Wall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011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reads like marketing copy. Traces of machine translation. Lacks the professionalism that earns citations.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Wall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overseas awareness. No understanding of local culture. Over-reliance on a single channel.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Wall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hasn't done overseas content before. No foreign-language writing capability. Hires are expensive.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402336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4572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 strategy. No operation planning. No professional tooling or playbooks to follow.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402336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Wall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is expensive with poor results. In-house production is slow. Trial-and-error drags 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Intelligent Agent — See It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tracking across ChatGPT, Google AI, Perplexity, DeepSeek — real-time citation status.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41148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best AI marketing platform?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improve website SEO with AI tools?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AI tool is best for GEO optimization?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ist die beste KI-Marketingplattform?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Intelligence — AI Platform Visibility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8056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Tongyi Qianwen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Flywheel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D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path:  Advertising → User Sees → Understands → Maybe Buys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D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path:  User Asks AI → Gets Answer → Verifies → Decides to Buy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20440" cy="3200400"/>
          </a:xfrm>
          <a:prstGeom prst="roundRect">
            <a:avLst>
              <a:gd name="adj" fmla="val 4286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Position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must appear in AI answers. Build it with comparison pages, buying guides, FAQs, spec sheets, case studies. Citable, judgeable, actionable information.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520440" cy="3200400"/>
          </a:xfrm>
          <a:prstGeom prst="roundRect">
            <a:avLst>
              <a:gd name="adj" fmla="val 4286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68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Mindshare Position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9260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user trust issues. Three endorsement types: authoritative (media reports), peer (industry experts, KOLs), and real user proof (community word-of-mouth).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3520440" cy="3200400"/>
          </a:xfrm>
          <a:prstGeom prst="roundRect">
            <a:avLst>
              <a:gd name="adj" fmla="val 4286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468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Position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trust into orders. Landing page content consistent with AI statements. Evidence visible. Purchase path shortest possible.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Answer  →  Win Trust  →  Facilitate Transaction  →  Reinforce  →  (repeat)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Traffic — Conversion.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analysis to revenue: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20440" cy="1645920"/>
          </a:xfrm>
          <a:prstGeom prst="roundRect">
            <a:avLst>
              <a:gd name="adj" fmla="val 833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Market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overseas competitors' traffic sources and keyword rankings.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520440" cy="1645920"/>
          </a:xfrm>
          <a:prstGeom prst="roundRect">
            <a:avLst>
              <a:gd name="adj" fmla="val 833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Keyword GEO/SEO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precise intent keywords easy to rank for.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3520440" cy="1645920"/>
          </a:xfrm>
          <a:prstGeom prst="roundRect">
            <a:avLst>
              <a:gd name="adj" fmla="val 833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High-Quality Content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AI detection, meet GEO/SEO standards, drive clicks.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3520440" cy="1645920"/>
          </a:xfrm>
          <a:prstGeom prst="roundRect">
            <a:avLst>
              <a:gd name="adj" fmla="val 833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Convert Traffic to Leads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internal links and landing pages → lead generation.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3657600"/>
            <a:ext cx="3520440" cy="1645920"/>
          </a:xfrm>
          <a:prstGeom prst="roundRect">
            <a:avLst>
              <a:gd name="adj" fmla="val 833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Sales Conversion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160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assigned to sales for timely follow-up.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Visibility — 7 Pillars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Tracking · Prompt Intelligence · Citation Analytics · Crawler Analytics · Traffic Attribution · AI Shopping · GEO+SEO Content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Engine. One Dashboard.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5212080" cy="3657600"/>
          </a:xfrm>
          <a:prstGeom prst="roundRect">
            <a:avLst>
              <a:gd name="adj" fmla="val 37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Platforms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ChatGPT (OpenAI) — 47.7B visits/mo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Perplexity — 500M+ queries/mo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Gemini (Google)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(Anthropic)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Copilot (Microsoft)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Grok (xAI)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Meta AI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3657600"/>
          </a:xfrm>
          <a:prstGeom prst="roundRect">
            <a:avLst>
              <a:gd name="adj" fmla="val 375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Platforms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DeepSeek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Doubao (豆包)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Tencent Yuanbao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Kimi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Baidu Wenxiaoyan (百度文小言)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Tongyi Qianwen (通义千问)
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distribution to 16 global search engines. Content appears in front of readers within hours, not weeks.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GEO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Indexing to Recognition to Recommendation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Expand 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Being Found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brand a credible info source when AI generates content. Structured data conversion. Build a centralized, authoritative 'Brand Knowledge Base' that AI can pull from.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Build Reputation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Being Recognized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content semantics for GEO performance. Invite industry experts to create endorsement content. Write white papers and industry reports.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Gain Recommendations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Being Adopted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content for images, data tables, multimodal formats. Monitor AI citation effectiveness. Influence AI to recommend your brand proactively.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Cultivating Niche Industries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companies from China, Singapore, the US, and across the globe build AI content marketing systems.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9775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11680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B197FC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Manufacturing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26517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(Ford, VW)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(Samsung, HP)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011680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E8736D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marketplace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brands (Nike)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81160" y="201168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2011680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64040" y="26517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firms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finance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Over 12 Months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4630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508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0332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Mentions/Mo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08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AI-Sourced Leads/Mo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81160" y="14630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1508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46404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 Structure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scheduling, content design, optimization plan customization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data analysis, decision basis, weekly and monthly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Architects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structure, content review, fact base 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Channel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Multi-platform content seeding, AI training, ensuring indexing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Customized production per AI platform's unique characteristics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42 vs Traditional Agencies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specialized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labour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AI engines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outcome expertise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SEO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English-only or outsourced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to 16 engines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submission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to publish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to go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 makes the decisions. Seven AI agents do the heavy lifting.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Excavation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28600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Operation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93192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Writer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7784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22376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Engineer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86968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515600" y="585216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9775FA">
              <a:alpha val="30000"/>
            </a:srgbClr>
          </a:solidFill>
          <a:ln w="12700">
            <a:solidFill>
              <a:srgbClr val="9775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283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2286000" cy="4846320"/>
          </a:xfrm>
          <a:prstGeom prst="rect">
            <a:avLst/>
          </a:prstGeom>
          <a:solidFill>
            <a:srgbClr val="0D08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Center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8712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Center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GEO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4187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GEO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6268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0657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Config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504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Operations Overview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status, recent tasks, and tools — all in one view.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146304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63040"/>
            <a:ext cx="73152" cy="1463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1554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9476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63040"/>
            <a:ext cx="73152" cy="146304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554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81160" y="146304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463040"/>
            <a:ext cx="73152" cy="1463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1554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55548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Platforms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visibility rankings · AI platform performance comparison · Grouped bars · Radar · Heatmaps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 Overview  ·  Brand Analysis  ·  AI Platform Analysis  ·  Source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645920"/>
            <a:ext cx="2286000" cy="2286000"/>
          </a:xfrm>
          <a:prstGeom prst="ellipse">
            <a:avLst/>
          </a:prstGeom>
          <a:noFill/>
          <a:ln w="38100">
            <a:solidFill>
              <a:srgbClr val="3D2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737360"/>
            <a:ext cx="2103120" cy="2103120"/>
          </a:xfrm>
          <a:prstGeom prst="ellipse">
            <a:avLst/>
          </a:prstGeom>
          <a:noFill/>
          <a:ln w="76200">
            <a:solidFill>
              <a:srgbClr val="9775F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645920"/>
          <a:ext cx="7772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Writing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Publishing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A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4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with assigned project manager and team.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→ AEO → GEO: The Full Diagnosis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audit + 6-step GEO service process.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Intent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core questions. Test AI model responses. Identify gaps and biases.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331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AI performance data. Audit all brand information assets.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Content Structuring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331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AI-friendly structured data. Build Brand Knowledge 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Semantic Optimization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semantics for GEO. Inject expert endorsements.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42062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Multimodal Adaptation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709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data tables, multi-platform formats. Weekly/monthly reports.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2062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Continuous Monitoring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citations, mention rates, user feedback. Iterate.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Keeta.com — SEO &amp; AEO Diagnosis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68/100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3749040"/>
            <a:ext cx="2788920" cy="228600"/>
          </a:xfrm>
          <a:prstGeom prst="roundRect">
            <a:avLst>
              <a:gd name="adj" fmla="val 48000"/>
            </a:avLst>
          </a:prstGeom>
          <a:solidFill>
            <a:srgbClr val="3D2B7A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749040"/>
            <a:ext cx="1896466" cy="228600"/>
          </a:xfrm>
          <a:prstGeom prst="roundRect">
            <a:avLst>
              <a:gd name="adj" fmla="val 48000"/>
            </a:avLst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64592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31/100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3749040"/>
            <a:ext cx="2788920" cy="228600"/>
          </a:xfrm>
          <a:prstGeom prst="roundRect">
            <a:avLst>
              <a:gd name="adj" fmla="val 48000"/>
            </a:avLst>
          </a:prstGeom>
          <a:solidFill>
            <a:srgbClr val="3D2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3749040"/>
            <a:ext cx="864565" cy="228600"/>
          </a:xfrm>
          <a:prstGeom prst="roundRect">
            <a:avLst>
              <a:gd name="adj" fmla="val 48000"/>
            </a:avLst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64592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1A1242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95360" y="3749040"/>
            <a:ext cx="2788920" cy="228600"/>
          </a:xfrm>
          <a:prstGeom prst="roundRect">
            <a:avLst>
              <a:gd name="adj" fmla="val 48000"/>
            </a:avLst>
          </a:prstGeom>
          <a:solidFill>
            <a:srgbClr val="3D2B7A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3749040"/>
            <a:ext cx="502006" cy="228600"/>
          </a:xfrm>
          <a:prstGeom prst="roundRect">
            <a:avLst>
              <a:gd name="adj" fmla="val 48000"/>
            </a:avLst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most enterprise brands look like before GEO optimization.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Strong-ish SEO, almost nonexistent in AI answers.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5029200" cy="5029200"/>
          </a:xfrm>
          <a:prstGeom prst="ellipse">
            <a:avLst/>
          </a:prstGeom>
          <a:solidFill>
            <a:srgbClr val="9775F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Become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Answer?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46304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3794760"/>
            <a:ext cx="2286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Pioneering the era of high-quality AI content marketing.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4846320"/>
            <a:ext cx="3931920" cy="640080"/>
          </a:xfrm>
          <a:prstGeom prst="roundRect">
            <a:avLst>
              <a:gd name="adj" fmla="val 50000"/>
            </a:avLst>
          </a:prstGeom>
          <a:solidFill>
            <a:srgbClr val="9775F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4846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19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hello@geo42.ai  ·  geo42.ai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2026-02-11T15:43:19Z</dcterms:created>
  <dcterms:modified xsi:type="dcterms:W3CDTF">2026-02-11T15:43:19Z</dcterms:modified>
</cp:coreProperties>
</file>