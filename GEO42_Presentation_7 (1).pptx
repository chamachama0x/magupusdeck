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182880"/>
            <a:ext cx="4572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A1D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 42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Answer Engine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Enterprise Brands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Engine Optimization (GEO) — GEO 42 makes your brand the definitive answer across every AI engine. Track visibility, optimize citations, and dominate generative search.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9775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77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It in Action  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110B30"/>
          </a:solidFill>
          <a:ln w="10160">
            <a:solidFill>
              <a:srgbClr val="3D2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9776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Case Study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BY LEADING ENTERPRISE BRANDS WORLDWIDE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SEO is Linear. GEO is Binary.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AI search, you are either the cited answer or you are invisible. There is no page two.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657600" cy="3291840"/>
          </a:xfrm>
          <a:prstGeom prst="rect">
            <a:avLst/>
          </a:prstGeom>
          <a:solidFill>
            <a:srgbClr val="1A1242"/>
          </a:solidFill>
          <a:ln w="1016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508760"/>
            <a:ext cx="594360" cy="274320"/>
          </a:xfrm>
          <a:prstGeom prst="roundRect">
            <a:avLst>
              <a:gd name="adj" fmla="val 26667"/>
            </a:avLst>
          </a:prstGeom>
          <a:solidFill>
            <a:srgbClr val="3D2B7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Traditional SEO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distribution model — sites climb from position 10 to 1 through incremental improvements. Multiple sites coexist on page one.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2926080" cy="201168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6517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0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2971800"/>
            <a:ext cx="2468880" cy="201168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971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0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2011680" cy="201168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91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0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3611880"/>
            <a:ext cx="1554480" cy="201168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611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0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3931920"/>
            <a:ext cx="1097280" cy="201168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9319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0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ranking — gradual climb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3657600" cy="3291840"/>
          </a:xfrm>
          <a:prstGeom prst="rect">
            <a:avLst/>
          </a:prstGeom>
          <a:solidFill>
            <a:srgbClr val="3D2B7A"/>
          </a:solidFill>
          <a:ln w="15240">
            <a:solidFill>
              <a:srgbClr val="977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508760"/>
            <a:ext cx="594360" cy="274320"/>
          </a:xfrm>
          <a:prstGeom prst="roundRect">
            <a:avLst>
              <a:gd name="adj" fmla="val 26667"/>
            </a:avLst>
          </a:prstGeom>
          <a:solidFill>
            <a:srgbClr val="9775FA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Generative Engine Optimization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1920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opposition model — AI cites a handful of sources per response. You are either the answer or invisible. Winner-take-all.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651760"/>
            <a:ext cx="3108960" cy="365760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0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3200400"/>
            <a:ext cx="3108960" cy="164592"/>
          </a:xfrm>
          <a:prstGeom prst="rect">
            <a:avLst/>
          </a:prstGeom>
          <a:solidFill>
            <a:srgbClr val="3D2B7A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3474720"/>
            <a:ext cx="3108960" cy="164592"/>
          </a:xfrm>
          <a:prstGeom prst="rect">
            <a:avLst/>
          </a:prstGeom>
          <a:solidFill>
            <a:srgbClr val="3D2B7A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3749040"/>
            <a:ext cx="3108960" cy="164592"/>
          </a:xfrm>
          <a:prstGeom prst="rect">
            <a:avLst/>
          </a:prstGeom>
          <a:solidFill>
            <a:srgbClr val="3D2B7A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2976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outcome — cited or invisible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4572000"/>
            <a:ext cx="3657600" cy="320040"/>
          </a:xfrm>
          <a:prstGeom prst="rect">
            <a:avLst/>
          </a:prstGeom>
          <a:solidFill>
            <a:srgbClr val="08051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572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34x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92024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Search Gap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4572000"/>
            <a:ext cx="3657600" cy="320040"/>
          </a:xfrm>
          <a:prstGeom prst="rect">
            <a:avLst/>
          </a:prstGeom>
          <a:solidFill>
            <a:srgbClr val="08051A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4572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1000x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9436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Chatbot Growth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Invisible to #1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3703320" cy="233172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024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280160"/>
            <a:ext cx="3383280" cy="365760"/>
          </a:xfrm>
          <a:prstGeom prst="rect">
            <a:avLst/>
          </a:prstGeom>
          <a:solidFill>
            <a:srgbClr val="2A1D5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robot vacuum has the best smart navigation?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1737360"/>
            <a:ext cx="3383280" cy="502920"/>
          </a:xfrm>
          <a:prstGeom prst="rect">
            <a:avLst/>
          </a:prstGeom>
          <a:solidFill>
            <a:srgbClr val="3D2B7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market data: 1. Roborock 2. Ecovacs 3. iRobot...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231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24231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Visibility: 0% — Completely invisible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3703320" cy="2331720"/>
          </a:xfrm>
          <a:prstGeom prst="rect">
            <a:avLst/>
          </a:prstGeom>
          <a:solidFill>
            <a:srgbClr val="3D2B7A"/>
          </a:solidFill>
          <a:ln w="15240">
            <a:solidFill>
              <a:srgbClr val="977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46320" y="1024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GEO 42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46320" y="1280160"/>
            <a:ext cx="3383280" cy="365760"/>
          </a:xfrm>
          <a:prstGeom prst="rect">
            <a:avLst/>
          </a:prstGeom>
          <a:solidFill>
            <a:srgbClr val="2A1D5E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robot vacuum has the best smart navigation?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46320" y="1737360"/>
            <a:ext cx="3383280" cy="502920"/>
          </a:xfrm>
          <a:prstGeom prst="rect">
            <a:avLst/>
          </a:prstGeom>
          <a:solidFill>
            <a:srgbClr val="3D2B7A"/>
          </a:solidFill>
          <a:ln/>
        </p:spPr>
      </p:sp>
      <p:sp>
        <p:nvSpPr>
          <p:cNvPr id="18" name="Text 15"/>
          <p:cNvSpPr/>
          <p:nvPr/>
        </p:nvSpPr>
        <p:spPr>
          <a:xfrm>
            <a:off x="493776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client's robot vacuum is now the top recommendation. Precision laser navigation, 5000Pa suction...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2316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74920" y="24231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Voice: #1 — The AI Answer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31520" y="3520440"/>
            <a:ext cx="1874520" cy="804672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41248" y="3584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+220%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841248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Mentions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788920" y="3520440"/>
            <a:ext cx="1874520" cy="804672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2898648" y="3584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#1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2898648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Voice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846320" y="3520440"/>
            <a:ext cx="1874520" cy="804672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4956048" y="3584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4956048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903720" y="3520440"/>
            <a:ext cx="1874520" cy="804672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013448" y="3584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+15%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7013448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AI Traffic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31520" y="45262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across: ChatGPT  ·  Gemini  ·  Perplexity  ·  DeepSeek  ·  Claude  ·  Google AI  ·  Copilot  ·  Meta AI  ·  Grok  ·  Mistral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Search Is Reshaping Discovery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874520" cy="91440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051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55B+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41248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AI Visits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1005840"/>
            <a:ext cx="1874520" cy="91440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98648" y="1051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34x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98648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Search Gap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1874520" cy="91440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56048" y="1051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1000x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56048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Traffic Growth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005840"/>
            <a:ext cx="1874520" cy="91440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13448" y="1051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13448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Zero-Click Searches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4114800" cy="2651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152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Search Traffic Growth (Billions)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03120"/>
            <a:ext cx="3840480" cy="2743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29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Zero-Click Search Rate (%)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Walls Enterprises Face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2578608" cy="178308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11556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Discovery Wall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1554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indexation and homogeneous pages mean AI crawlers skip you entirely.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20440" y="1005840"/>
            <a:ext cx="2578608" cy="178308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0168" y="111556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18872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Credibility Wall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30168" y="1554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reads like marketing, not expertise. AI prioritises authoritative sources.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1005840"/>
            <a:ext cx="2578608" cy="178308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19088" y="111556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8872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Brand Wall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19088" y="1554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Insufficient brand awareness. Over-reliance on single promotion channels.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31520" y="3017520"/>
            <a:ext cx="2578608" cy="178308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312724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Capability Wall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41248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lacks cross-cultural content expertise for native-quality AI material.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520440" y="3017520"/>
            <a:ext cx="2578608" cy="178308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30168" y="312724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20040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690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Operations Wall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630168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content strategy, no playbook, no specialised tooling.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309360" y="3017520"/>
            <a:ext cx="2578608" cy="178308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19088" y="312724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200400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ROI Wall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19088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Agency outsourcing expensive. In-house slow. Verification cycles eat months.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 the Platform in 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303520" cy="3840480"/>
          </a:xfrm>
          <a:prstGeom prst="rect">
            <a:avLst/>
          </a:prstGeom>
          <a:solidFill>
            <a:srgbClr val="1A1242"/>
          </a:solidFill>
          <a:ln w="1016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43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INTELLIGENT AGENT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120640" y="1143000"/>
            <a:ext cx="128016" cy="128016"/>
          </a:xfrm>
          <a:prstGeom prst="ellipse">
            <a:avLst/>
          </a:prstGeom>
          <a:solidFill>
            <a:srgbClr val="3D2B7A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143000"/>
            <a:ext cx="128016" cy="128016"/>
          </a:xfrm>
          <a:prstGeom prst="ellipse">
            <a:avLst/>
          </a:prstGeom>
          <a:solidFill>
            <a:srgbClr val="3D2B7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1143000"/>
            <a:ext cx="128016" cy="128016"/>
          </a:xfrm>
          <a:prstGeom prst="ellipse">
            <a:avLst/>
          </a:prstGeom>
          <a:solidFill>
            <a:srgbClr val="9775F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63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34440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08960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23360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AI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Perplexity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Q001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3444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AI visibility platform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8960" y="173736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1737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023360" y="173736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1737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37760" y="173736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D301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737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31520" y="2066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Q002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34440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optimization tools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08960" y="2084832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2084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023360" y="2084832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D3010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2084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937760" y="2084832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084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31520" y="2414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Q003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3444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AI brand citations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08960" y="2432304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D3010"/>
          </a:solidFill>
          <a:ln/>
        </p:spPr>
      </p:sp>
      <p:sp>
        <p:nvSpPr>
          <p:cNvPr id="34" name="Text 32"/>
          <p:cNvSpPr/>
          <p:nvPr/>
        </p:nvSpPr>
        <p:spPr>
          <a:xfrm>
            <a:off x="3108960" y="2432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023360" y="2432304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0" y="2432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937760" y="2432304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432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31520" y="2761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Q004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23444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search recommendation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08960" y="2779776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42" name="Text 40"/>
          <p:cNvSpPr/>
          <p:nvPr/>
        </p:nvSpPr>
        <p:spPr>
          <a:xfrm>
            <a:off x="3108960" y="27797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023360" y="2779776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D1515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0" y="27797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937760" y="2779776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D3010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27797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315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Q005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2344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engine optimization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108960" y="312724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50" name="Text 48"/>
          <p:cNvSpPr/>
          <p:nvPr/>
        </p:nvSpPr>
        <p:spPr>
          <a:xfrm>
            <a:off x="3108960" y="3127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023360" y="312724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52" name="Text 50"/>
          <p:cNvSpPr/>
          <p:nvPr/>
        </p:nvSpPr>
        <p:spPr>
          <a:xfrm>
            <a:off x="4023360" y="3127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937760" y="312724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54" name="Text 52"/>
          <p:cNvSpPr/>
          <p:nvPr/>
        </p:nvSpPr>
        <p:spPr>
          <a:xfrm>
            <a:off x="4937760" y="3127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31520" y="3456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Q006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23444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visibility across AI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108960" y="347472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D3010"/>
          </a:solidFill>
          <a:ln/>
        </p:spPr>
      </p:sp>
      <p:sp>
        <p:nvSpPr>
          <p:cNvPr id="58" name="Text 56"/>
          <p:cNvSpPr/>
          <p:nvPr/>
        </p:nvSpPr>
        <p:spPr>
          <a:xfrm>
            <a:off x="3108960" y="3474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023360" y="347472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D3010"/>
          </a:solidFill>
          <a:ln/>
        </p:spPr>
      </p:sp>
      <p:sp>
        <p:nvSpPr>
          <p:cNvPr id="60" name="Text 58"/>
          <p:cNvSpPr/>
          <p:nvPr/>
        </p:nvSpPr>
        <p:spPr>
          <a:xfrm>
            <a:off x="4023360" y="3474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937760" y="347472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D1515"/>
          </a:solidFill>
          <a:ln/>
        </p:spPr>
      </p:sp>
      <p:sp>
        <p:nvSpPr>
          <p:cNvPr id="62" name="Text 60"/>
          <p:cNvSpPr/>
          <p:nvPr/>
        </p:nvSpPr>
        <p:spPr>
          <a:xfrm>
            <a:off x="4937760" y="3474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31520" y="3803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Q007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234440" y="3803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content strategy enterprise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108960" y="3822192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66" name="Text 64"/>
          <p:cNvSpPr/>
          <p:nvPr/>
        </p:nvSpPr>
        <p:spPr>
          <a:xfrm>
            <a:off x="3108960" y="3822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023360" y="3822192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3D2A"/>
          </a:solidFill>
          <a:ln/>
        </p:spPr>
      </p:sp>
      <p:sp>
        <p:nvSpPr>
          <p:cNvPr id="68" name="Text 66"/>
          <p:cNvSpPr/>
          <p:nvPr/>
        </p:nvSpPr>
        <p:spPr>
          <a:xfrm>
            <a:off x="4023360" y="3822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937760" y="3822192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D3010"/>
          </a:solidFill>
          <a:ln/>
        </p:spPr>
      </p:sp>
      <p:sp>
        <p:nvSpPr>
          <p:cNvPr id="70" name="Text 68"/>
          <p:cNvSpPr/>
          <p:nvPr/>
        </p:nvSpPr>
        <p:spPr>
          <a:xfrm>
            <a:off x="4937760" y="3822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035040" y="1051560"/>
            <a:ext cx="2743200" cy="3840480"/>
          </a:xfrm>
          <a:prstGeom prst="rect">
            <a:avLst/>
          </a:prstGeom>
          <a:solidFill>
            <a:srgbClr val="1A1242"/>
          </a:solidFill>
          <a:ln w="1016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172200" y="1161288"/>
            <a:ext cx="91440" cy="91440"/>
          </a:xfrm>
          <a:prstGeom prst="ellipse">
            <a:avLst/>
          </a:prstGeom>
          <a:solidFill>
            <a:srgbClr val="9775FA"/>
          </a:solidFill>
          <a:ln/>
        </p:spPr>
      </p:sp>
      <p:sp>
        <p:nvSpPr>
          <p:cNvPr id="73" name="Text 71"/>
          <p:cNvSpPr/>
          <p:nvPr/>
        </p:nvSpPr>
        <p:spPr>
          <a:xfrm>
            <a:off x="6309360" y="1143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INTELLIGENCE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217920" y="14630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DOUBAO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21792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26.25%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6217920" y="19659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Rec: 16.25%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498080" y="14630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49808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31.25%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7498080" y="19659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Rec: 21.25%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217920" y="22860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 HEATMAP</a:t>
            </a:r>
            <a:endParaRPr lang="en-US" sz="700" dirty="0"/>
          </a:p>
        </p:txBody>
      </p:sp>
      <p:pic>
        <p:nvPicPr>
          <p:cNvPr id="8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468880"/>
            <a:ext cx="256032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Visibility Flywheel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visibility leads to more trust, which drives more transactions, which generates more signals that increase visibility.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6576" cy="731520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Become the Answer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01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your brand as the source AI engines cite when users ask questions in your category.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36576" cy="731520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 Trust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862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credibility through consistent, high-quality AI-optimized content that earns citations.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36576" cy="731520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Facilitate Transaction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AI-driven visibility into measurable business outcomes and customer acquisition.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280160"/>
            <a:ext cx="3108960" cy="3108960"/>
          </a:xfrm>
          <a:prstGeom prst="ellipse">
            <a:avLst/>
          </a:prstGeom>
          <a:solidFill>
            <a:srgbClr val="2A1D5E"/>
          </a:solidFill>
          <a:ln w="19050">
            <a:solidFill>
              <a:srgbClr val="3D2B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011680"/>
            <a:ext cx="1645920" cy="1645920"/>
          </a:xfrm>
          <a:prstGeom prst="ellipse">
            <a:avLst/>
          </a:prstGeom>
          <a:solidFill>
            <a:srgbClr val="1A124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3017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FLYWHEEL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82880" cy="182880"/>
          </a:xfrm>
          <a:prstGeom prst="ellipse">
            <a:avLst/>
          </a:prstGeom>
          <a:solidFill>
            <a:srgbClr val="9775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960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 the Answer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366760" y="2926080"/>
            <a:ext cx="182880" cy="182880"/>
          </a:xfrm>
          <a:prstGeom prst="ellipse">
            <a:avLst/>
          </a:prstGeom>
          <a:solidFill>
            <a:srgbClr val="9775FA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Trust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40680" y="3474720"/>
            <a:ext cx="182880" cy="182880"/>
          </a:xfrm>
          <a:prstGeom prst="ellipse">
            <a:avLst/>
          </a:prstGeom>
          <a:solidFill>
            <a:srgbClr val="9775F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703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 Transaction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Full-Stack AI Visibility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2578608" cy="1828800"/>
          </a:xfrm>
          <a:prstGeom prst="rect">
            <a:avLst/>
          </a:prstGeom>
          <a:solidFill>
            <a:srgbClr val="1A1242"/>
          </a:solidFill>
          <a:ln w="15240">
            <a:solidFill>
              <a:srgbClr val="977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11556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55448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Visibility &amp; Brand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Presence Tracking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" y="199339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mentions, visibility, citations across 10+ AI engines.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1248" y="257860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SERVICE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520440" y="1005840"/>
            <a:ext cx="2578608" cy="182880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111556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18872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155448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Prompt &amp; Demand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30168" y="199339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what millions ask AI — real-time volume &amp; topics.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09360" y="1005840"/>
            <a:ext cx="2578608" cy="182880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19088" y="111556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8872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155448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Response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Citation Analytics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19088" y="199339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how AI models talk about your brand.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31520" y="3063240"/>
            <a:ext cx="1874520" cy="182880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1248" y="317296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4612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" y="361188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Crawler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Analytics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41248" y="4050792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AI crawler access, indexing, readability.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788920" y="3063240"/>
            <a:ext cx="1874520" cy="182880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898648" y="317296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324612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898648" y="361188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Traffic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Attribution Analytics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898648" y="4050792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AI search traffic, conversions, prove ROI.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846320" y="3063240"/>
            <a:ext cx="1874520" cy="182880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956048" y="317296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4612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56048" y="361188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Shopping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Visibility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956048" y="4050792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product visibility in ChatGPT Shopping.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903720" y="3063240"/>
            <a:ext cx="1874520" cy="1828800"/>
          </a:xfrm>
          <a:prstGeom prst="rect">
            <a:avLst/>
          </a:prstGeom>
          <a:solidFill>
            <a:srgbClr val="1A1242"/>
          </a:solidFill>
          <a:ln w="762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013448" y="3172968"/>
            <a:ext cx="365760" cy="36576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246120"/>
            <a:ext cx="219456" cy="21945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013448" y="361188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GEO + SEO Content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7013448" y="4050792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AI-optimised content across all engines.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COVERAGE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AI Engine. One Dashboard.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38912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1005840"/>
            <a:ext cx="1874520" cy="804672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56048" y="10789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 AI Search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956048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ChatGPT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56048" y="1554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47.7B visits/mo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903720" y="1005840"/>
            <a:ext cx="1874520" cy="804672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13448" y="10789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 Search Engine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013448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AI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13448" y="1554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Overview reach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846320" y="1993392"/>
            <a:ext cx="1874520" cy="804672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56048" y="2066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Fastest Growing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956048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Perplexity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56048" y="2542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500M+ queries/mo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903720" y="1993392"/>
            <a:ext cx="1874520" cy="804672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13448" y="2066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Ecosystem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013448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13448" y="2542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integration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846320" y="2980944"/>
            <a:ext cx="1874520" cy="804672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956048" y="30540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Users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956048" y="32552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56048" y="35295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focus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903720" y="2980944"/>
            <a:ext cx="1874520" cy="804672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13448" y="30540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013448" y="32552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Copilot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13448" y="35295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ecosystem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846320" y="3968496"/>
            <a:ext cx="1874520" cy="804672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956048" y="40416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AI Leader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956048" y="4242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DeepSeek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956048" y="45171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expansion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903720" y="3968496"/>
            <a:ext cx="1874520" cy="804672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013448" y="40416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ByteDance AI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013448" y="4242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Doubao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013448" y="45171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Asia-Pacific reach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Three-Phase GEO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2606040" cy="3840480"/>
          </a:xfrm>
          <a:prstGeom prst="rect">
            <a:avLst/>
          </a:prstGeom>
          <a:solidFill>
            <a:srgbClr val="1A1242"/>
          </a:solidFill>
          <a:ln w="12700">
            <a:solidFill>
              <a:srgbClr val="977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Expand Sources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984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data &amp; schema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1460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Multi-platform distribution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1752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9900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Citation-safe architecture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2044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clarity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3566160" y="1005840"/>
            <a:ext cx="2606040" cy="3840480"/>
          </a:xfrm>
          <a:prstGeom prst="rect">
            <a:avLst/>
          </a:prstGeom>
          <a:solidFill>
            <a:srgbClr val="1A1242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3703320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370332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Reputation</a:t>
            </a:r>
            <a:endParaRPr lang="en-US" sz="17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2011680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31920" y="1984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endorsements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514600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931920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brand narrative</a:t>
            </a:r>
            <a:endParaRPr lang="en-US" sz="10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017520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931920" y="29900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white papers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3520440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931920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&amp; social proof</a:t>
            </a:r>
            <a:endParaRPr lang="en-US" sz="1050" dirty="0"/>
          </a:p>
        </p:txBody>
      </p:sp>
      <p:sp>
        <p:nvSpPr>
          <p:cNvPr id="27" name="Shape 17"/>
          <p:cNvSpPr/>
          <p:nvPr/>
        </p:nvSpPr>
        <p:spPr>
          <a:xfrm>
            <a:off x="6400800" y="1005840"/>
            <a:ext cx="2606040" cy="3840480"/>
          </a:xfrm>
          <a:prstGeom prst="rect">
            <a:avLst/>
          </a:prstGeom>
          <a:solidFill>
            <a:srgbClr val="1A1242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8" name="Text 18"/>
          <p:cNvSpPr/>
          <p:nvPr/>
        </p:nvSpPr>
        <p:spPr>
          <a:xfrm>
            <a:off x="6537960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653796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Gain Recommendations</a:t>
            </a:r>
            <a:endParaRPr lang="en-US" sz="17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2011680"/>
            <a:ext cx="164592" cy="16459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766560" y="1984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influence strategies</a:t>
            </a:r>
            <a:endParaRPr lang="en-US" sz="10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2514600"/>
            <a:ext cx="164592" cy="16459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66560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Answer-position content</a:t>
            </a:r>
            <a:endParaRPr lang="en-US" sz="105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017520"/>
            <a:ext cx="164592" cy="164592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766560" y="29900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displacement</a:t>
            </a:r>
            <a:endParaRPr lang="en-US" sz="105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3520440"/>
            <a:ext cx="164592" cy="164592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766560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for Your Vertical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920240" cy="3474720"/>
          </a:xfrm>
          <a:prstGeom prst="rect">
            <a:avLst/>
          </a:prstGeom>
          <a:solidFill>
            <a:srgbClr val="1A1242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371600"/>
            <a:ext cx="731520" cy="73152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49047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&amp; AI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 brand visibility in AI search and answer engines.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34640" y="1005840"/>
            <a:ext cx="1920240" cy="3474720"/>
          </a:xfrm>
          <a:prstGeom prst="rect">
            <a:avLst/>
          </a:prstGeom>
          <a:solidFill>
            <a:srgbClr val="1A1242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371600"/>
            <a:ext cx="731520" cy="73152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49047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608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Manufacturing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26080" y="26974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global AI content marketing systems.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937760" y="1005840"/>
            <a:ext cx="1920240" cy="3474720"/>
          </a:xfrm>
          <a:prstGeom prst="rect">
            <a:avLst/>
          </a:prstGeom>
          <a:solidFill>
            <a:srgbClr val="1A1242"/>
          </a:solidFill>
          <a:ln w="1016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532120" y="1371600"/>
            <a:ext cx="731520" cy="73152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49047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E-Commerce &amp; Consumer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0" y="26974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visibility in ChatGPT Shopping &amp; AI discovery.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040880" y="1005840"/>
            <a:ext cx="1920240" cy="3474720"/>
          </a:xfrm>
          <a:prstGeom prst="rect">
            <a:avLst/>
          </a:prstGeom>
          <a:solidFill>
            <a:srgbClr val="1A1242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35240" y="1371600"/>
            <a:ext cx="731520" cy="731520"/>
          </a:xfrm>
          <a:prstGeom prst="ellipse">
            <a:avLst/>
          </a:prstGeom>
          <a:solidFill>
            <a:srgbClr val="3D2B7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490472"/>
            <a:ext cx="493776" cy="4937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Professional Services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132320" y="26974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 the authoritative answer in AI search.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Projected Impact Over 12 Months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2880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3977640"/>
            <a:ext cx="1874520" cy="777240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91%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Score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1874520" cy="777240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98648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15,000+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898648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Mentions/Mo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46320" y="3977640"/>
            <a:ext cx="1874520" cy="777240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56048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135+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56048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AI-Sourced Leads/Mo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03720" y="3977640"/>
            <a:ext cx="1874520" cy="777240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13448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5-8x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13448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ROI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GEO 42 vs Traditional Agencies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0"/>
            <a:ext cx="50292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914400"/>
            <a:ext cx="3383280" cy="3657600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4068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GEO 42 Wins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4173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3716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AI agents vs manual labour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669280" y="15727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content 10x without headcount.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96596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0" y="19202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 platforms vs Google-only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669280" y="21214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ChatGPT, Gemini, Perplexity, DeepSeek+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51460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9280" y="24688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dashboards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5669280" y="2670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AI performance visibility.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063240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69280" y="3017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outcome expertise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5669280" y="3218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Winner-take-all dynamics mastery.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611880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669280" y="3566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at scale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5669280" y="3767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content across languages.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Intelligence Dashboard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4572000" cy="339634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3840480" cy="37680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Monitoring &amp; Progress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4572000" cy="339634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3840480" cy="37680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GEO 42 Dashboard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8503920" cy="40200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PRE-ENGAGEMENT AUDIT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SEO → AEO → GEO: The Full Diagnosis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every engagement, GEO 42 conducts a comprehensive audit across all three layers to identify gaps and build a tailored strategy.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3794760"/>
          </a:xfrm>
          <a:prstGeom prst="rect">
            <a:avLst/>
          </a:prstGeom>
          <a:solidFill>
            <a:srgbClr val="1A1242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97480" cy="411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207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0B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SEO Audit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41732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0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Layer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search optimisation — the baseline for AI discoverability.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40280"/>
            <a:ext cx="146304" cy="146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health &amp; crawlability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06040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2578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quality &amp; E-E-A-T signals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71800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&amp; structured data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37560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Backlink authority profile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03320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7240" y="36758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speed &amp; Core Web Vitals</a:t>
            </a:r>
            <a:endParaRPr lang="en-US" sz="9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069080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77240" y="4041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positioning &amp; gaps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3337560" y="1188720"/>
            <a:ext cx="2697480" cy="3794760"/>
          </a:xfrm>
          <a:prstGeom prst="rect">
            <a:avLst/>
          </a:prstGeom>
          <a:solidFill>
            <a:srgbClr val="1A124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3337560" y="1188720"/>
            <a:ext cx="2697480" cy="411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17"/>
          <p:cNvSpPr/>
          <p:nvPr/>
        </p:nvSpPr>
        <p:spPr>
          <a:xfrm>
            <a:off x="3447288" y="1207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0B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AEO Audit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3447288" y="141732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0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Engine Layer</a:t>
            </a:r>
            <a:endParaRPr lang="en-US" sz="800" dirty="0"/>
          </a:p>
        </p:txBody>
      </p:sp>
      <p:sp>
        <p:nvSpPr>
          <p:cNvPr id="27" name="Text 19"/>
          <p:cNvSpPr/>
          <p:nvPr/>
        </p:nvSpPr>
        <p:spPr>
          <a:xfrm>
            <a:off x="3447288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well your content feeds featured snippets, knowledge panels, and voice search.</a:t>
            </a:r>
            <a:endParaRPr lang="en-US" sz="9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2240280"/>
            <a:ext cx="146304" cy="1463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65760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Featured snippet capture rate</a:t>
            </a:r>
            <a:endParaRPr lang="en-US" sz="9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7288" y="2606040"/>
            <a:ext cx="146304" cy="14630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657600" y="2578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FAQ &amp; PAA optimisation</a:t>
            </a:r>
            <a:endParaRPr lang="en-US" sz="9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7288" y="2971800"/>
            <a:ext cx="146304" cy="14630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657600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Graph presence</a:t>
            </a:r>
            <a:endParaRPr lang="en-US" sz="9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7288" y="3337560"/>
            <a:ext cx="146304" cy="14630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657600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search readiness</a:t>
            </a:r>
            <a:endParaRPr lang="en-US" sz="9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3703320"/>
            <a:ext cx="146304" cy="146304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657600" y="36758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query mapping</a:t>
            </a:r>
            <a:endParaRPr lang="en-US" sz="95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47288" y="4069080"/>
            <a:ext cx="146304" cy="146304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3657600" y="4041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answer formatting</a:t>
            </a:r>
            <a:endParaRPr lang="en-US" sz="950" dirty="0"/>
          </a:p>
        </p:txBody>
      </p:sp>
      <p:sp>
        <p:nvSpPr>
          <p:cNvPr id="40" name="Shape 26"/>
          <p:cNvSpPr/>
          <p:nvPr/>
        </p:nvSpPr>
        <p:spPr>
          <a:xfrm>
            <a:off x="6217920" y="1188720"/>
            <a:ext cx="2697480" cy="3794760"/>
          </a:xfrm>
          <a:prstGeom prst="rect">
            <a:avLst/>
          </a:prstGeom>
          <a:solidFill>
            <a:srgbClr val="1A1242"/>
          </a:solidFill>
          <a:ln w="12700">
            <a:solidFill>
              <a:srgbClr val="977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1" name="Shape 27"/>
          <p:cNvSpPr/>
          <p:nvPr/>
        </p:nvSpPr>
        <p:spPr>
          <a:xfrm>
            <a:off x="6217920" y="1188720"/>
            <a:ext cx="2697480" cy="411480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42" name="Text 28"/>
          <p:cNvSpPr/>
          <p:nvPr/>
        </p:nvSpPr>
        <p:spPr>
          <a:xfrm>
            <a:off x="6327648" y="1207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0B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GEO Audit</a:t>
            </a:r>
            <a:endParaRPr lang="en-US" sz="1300" dirty="0"/>
          </a:p>
        </p:txBody>
      </p:sp>
      <p:sp>
        <p:nvSpPr>
          <p:cNvPr id="43" name="Text 29"/>
          <p:cNvSpPr/>
          <p:nvPr/>
        </p:nvSpPr>
        <p:spPr>
          <a:xfrm>
            <a:off x="6327648" y="141732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0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Engine Layer</a:t>
            </a:r>
            <a:endParaRPr lang="en-US" sz="800" dirty="0"/>
          </a:p>
        </p:txBody>
      </p:sp>
      <p:sp>
        <p:nvSpPr>
          <p:cNvPr id="44" name="Text 30"/>
          <p:cNvSpPr/>
          <p:nvPr/>
        </p:nvSpPr>
        <p:spPr>
          <a:xfrm>
            <a:off x="6327648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brand's visibility, citation rate, and authority across AI search platforms.</a:t>
            </a:r>
            <a:endParaRPr lang="en-US" sz="95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48" y="2240280"/>
            <a:ext cx="146304" cy="146304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53796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citation rate across engines</a:t>
            </a:r>
            <a:endParaRPr lang="en-US" sz="95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7648" y="2606040"/>
            <a:ext cx="146304" cy="146304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537960" y="2578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mention frequency</a:t>
            </a:r>
            <a:endParaRPr lang="en-US" sz="950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7648" y="2971800"/>
            <a:ext cx="146304" cy="146304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6537960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 share of voice</a:t>
            </a:r>
            <a:endParaRPr lang="en-US" sz="950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7648" y="3337560"/>
            <a:ext cx="146304" cy="146304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537960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Prompt-answer alignment</a:t>
            </a:r>
            <a:endParaRPr lang="en-US" sz="950" dirty="0"/>
          </a:p>
        </p:txBody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3703320"/>
            <a:ext cx="146304" cy="146304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6537960" y="36758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authority signals</a:t>
            </a:r>
            <a:endParaRPr lang="en-US" sz="950" dirty="0"/>
          </a:p>
        </p:txBody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7648" y="4069080"/>
            <a:ext cx="146304" cy="146304"/>
          </a:xfrm>
          <a:prstGeom prst="rect">
            <a:avLst/>
          </a:prstGeom>
        </p:spPr>
      </p:pic>
      <p:sp>
        <p:nvSpPr>
          <p:cNvPr id="56" name="Text 36"/>
          <p:cNvSpPr/>
          <p:nvPr/>
        </p:nvSpPr>
        <p:spPr>
          <a:xfrm>
            <a:off x="6537960" y="4041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Cross-platform consistency</a:t>
            </a:r>
            <a:endParaRPr lang="en-US" sz="950" dirty="0"/>
          </a:p>
        </p:txBody>
      </p:sp>
      <p:sp>
        <p:nvSpPr>
          <p:cNvPr id="57" name="Text 37"/>
          <p:cNvSpPr/>
          <p:nvPr/>
        </p:nvSpPr>
        <p:spPr>
          <a:xfrm>
            <a:off x="30175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58" name="Text 38"/>
          <p:cNvSpPr/>
          <p:nvPr/>
        </p:nvSpPr>
        <p:spPr>
          <a:xfrm>
            <a:off x="58978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AUDIT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Keeta.com — SEO &amp; AEO Diagnosis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Layer-1 blockchain  ·  $20M raised  ·  Eric Schmidt-backed  ·  10M TPS  ·  Cross-chain payments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1508760"/>
          </a:xfrm>
          <a:prstGeom prst="rect">
            <a:avLst/>
          </a:prstGeom>
          <a:solidFill>
            <a:srgbClr val="1A1242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051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68/100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103120" y="129844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2984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 site well-structured but main site thin on content. Limited blog/educational pages. Schema partially implemented.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37560" y="1005840"/>
            <a:ext cx="2697480" cy="1508760"/>
          </a:xfrm>
          <a:prstGeom prst="rect">
            <a:avLst/>
          </a:prstGeom>
          <a:solidFill>
            <a:srgbClr val="1A1242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47288" y="1051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AEO 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47288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31/100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983480" y="129844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2984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47288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featured snippets. No FAQ schema. Technical docs not formatted for answer extraction. No PAA presence.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2697480" cy="1508760"/>
          </a:xfrm>
          <a:prstGeom prst="rect">
            <a:avLst/>
          </a:prstGeom>
          <a:solidFill>
            <a:srgbClr val="1A1242"/>
          </a:solidFill>
          <a:ln w="10160">
            <a:solidFill>
              <a:srgbClr val="977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27648" y="1051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27648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7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18/100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7863840" y="129844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87171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0" y="12984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7648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Competitors (Solana, Ripple) dominate AI responses for cross-chain &amp; L1 queries. Keeta rarely cited.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CITATION CHECK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" y="2926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Mentioned only for TPS benchmarks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221992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23160" y="2926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23160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cited in L1 blockchain queries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49624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50792" y="2926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Perplexity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50792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 via PR articles only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77256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78424" y="2926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78424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Absent from cross-chain queries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104888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06056" y="2926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06056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citation — via Google Cloud blog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solidFill>
            <a:srgbClr val="1A1242"/>
          </a:solidFill>
          <a:ln w="6350">
            <a:solidFill>
              <a:srgbClr val="3D2B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94360" y="3657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 &amp; RECOMMENDATIONS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" y="3931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60120" y="3931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Found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572000" y="39319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86384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8640" y="4133088"/>
            <a:ext cx="8046720" cy="173736"/>
          </a:xfrm>
          <a:prstGeom prst="rect">
            <a:avLst/>
          </a:prstGeom>
          <a:solidFill>
            <a:srgbClr val="2A1D5E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133088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60120" y="4133088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 content on keeta.com — most info in docs.keeta.com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572000" y="4133088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educational hub: 'What is L1', 'Cross-chain explained'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863840" y="4133088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48640" y="4315968"/>
            <a:ext cx="8046720" cy="173736"/>
          </a:xfrm>
          <a:prstGeom prst="rect">
            <a:avLst/>
          </a:prstGeom>
          <a:solidFill>
            <a:srgbClr val="1A1242"/>
          </a:solidFill>
          <a:ln/>
        </p:spPr>
      </p:sp>
      <p:sp>
        <p:nvSpPr>
          <p:cNvPr id="53" name="Text 51"/>
          <p:cNvSpPr/>
          <p:nvPr/>
        </p:nvSpPr>
        <p:spPr>
          <a:xfrm>
            <a:off x="594360" y="4315968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960120" y="4315968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blog or news section on main domain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572000" y="4315968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/blog with weekly thought leadership &amp; ecosystem updates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863840" y="4315968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48640" y="4498848"/>
            <a:ext cx="8046720" cy="173736"/>
          </a:xfrm>
          <a:prstGeom prst="rect">
            <a:avLst/>
          </a:prstGeom>
          <a:solidFill>
            <a:srgbClr val="2A1D5E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" y="4498848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AEO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960120" y="4498848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featured snippets for 'fastest blockchain' queries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572000" y="4498848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comparison tables, FAQ schema, direct-answer formatting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863840" y="4498848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48640" y="4681728"/>
            <a:ext cx="8046720" cy="173736"/>
          </a:xfrm>
          <a:prstGeom prst="rect">
            <a:avLst/>
          </a:prstGeom>
          <a:solidFill>
            <a:srgbClr val="1A1242"/>
          </a:solidFill>
          <a:ln/>
        </p:spPr>
      </p:sp>
      <p:sp>
        <p:nvSpPr>
          <p:cNvPr id="63" name="Text 61"/>
          <p:cNvSpPr/>
          <p:nvPr/>
        </p:nvSpPr>
        <p:spPr>
          <a:xfrm>
            <a:off x="594360" y="4681728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60120" y="4681728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Solana/Ripple cited 4x more in AI for cross-chain queries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572000" y="4681728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AI-optimized authority content for prompt clusters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863840" y="4681728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48640" y="4864608"/>
            <a:ext cx="8046720" cy="173736"/>
          </a:xfrm>
          <a:prstGeom prst="rect">
            <a:avLst/>
          </a:prstGeom>
          <a:solidFill>
            <a:srgbClr val="2A1D5E"/>
          </a:solidFill>
          <a:ln/>
        </p:spPr>
      </p:sp>
      <p:sp>
        <p:nvSpPr>
          <p:cNvPr id="68" name="Text 66"/>
          <p:cNvSpPr/>
          <p:nvPr/>
        </p:nvSpPr>
        <p:spPr>
          <a:xfrm>
            <a:off x="594360" y="4864608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77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960120" y="4864608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Cloud partnership not surfacing in AI responses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572000" y="4864608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Amplify Spanner case study across citation-worthy channels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863840" y="4864608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775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182880"/>
            <a:ext cx="4572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A1D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42</a:t>
            </a:r>
            <a:endParaRPr lang="en-US" sz="20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315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 to Become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AI Answer?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how GEO 42 can transform your brand from invisible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D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indispensable across every AI platform.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651760" y="3886200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9775FA"/>
          </a:solidFill>
          <a:ln/>
        </p:spPr>
      </p:sp>
      <p:sp>
        <p:nvSpPr>
          <p:cNvPr id="8" name="Text 5"/>
          <p:cNvSpPr/>
          <p:nvPr/>
        </p:nvSpPr>
        <p:spPr>
          <a:xfrm>
            <a:off x="2651760" y="38862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It in Action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3886200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110B30"/>
          </a:solidFill>
          <a:ln w="10160">
            <a:solidFill>
              <a:srgbClr val="3D2B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38862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Us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4572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hello@geo42.ai  |  geo42.ai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42 — The Answer Engine for Enterprise Brands</dc:title>
  <dc:subject>PptxGenJS Presentation</dc:subject>
  <dc:creator>PptxGenJS</dc:creator>
  <cp:lastModifiedBy>PptxGenJS</cp:lastModifiedBy>
  <cp:revision>1</cp:revision>
  <dcterms:created xsi:type="dcterms:W3CDTF">2026-02-10T19:23:40Z</dcterms:created>
  <dcterms:modified xsi:type="dcterms:W3CDTF">2026-02-10T19:23:40Z</dcterms:modified>
</cp:coreProperties>
</file>